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6A34A"/>
    <a:srgbClr val="C7D2FE"/>
    <a:srgbClr val="439E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5" d="100"/>
          <a:sy n="145" d="100"/>
        </p:scale>
        <p:origin x="68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32933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— Page de garde. Présenter l'équipe rapidement. Insister sur le fait que c'est une solution 100% open source pensée pour une PME.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— Sommaire. 10 min présentation, 5 min démo, 5 min Q&amp;R. Mentionner la structure de l'évaluation.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 — Contexte. Insister sur l'aspect PME : budget limité, besoin de flexibilité. Mentionner les deux sites et leurs spécificités (IP fixe vs dynamique). Expliquer que l'open source répond exactement à ces contraintes.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 — Architecture. Expliquer les 3 réseaux virtuels VMware : wan-link (Internet simulé), lan-principal, lan-isole. Mentionner que chaque pfSense a 3 cartes réseau : NAT (mises à jour), wan-link (tunnel), 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 — Choix techniques. Point clé à expliquer : OpenVPN vs WireGuard → WireGuard ne supporte pas les certificats X.509, donc inutilisable avec notre PKI. Suricata vs Snort → Suricata est multi-thread donc plus performant. Tous les choix sont justifiés.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 — Mécanismes de sécurité et éco-conception. Insister sur la PKI : c'est ce qui différencie notre solution d'un VPN basique avec mot de passe. Pour l'éco-conception : pfSense peut tourner sur un Raspberry Pi ou un vieux PC — idéal pour une PME.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— Pare-feu. Pour la démo : montrer Firewall → Rules sur les différentes interfaces. Montrer que la règle 'allow all' a été supprimée. Faire un ping depuis VM3 pour prouver que seul le trafic autorisé passe.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 — IPSec. Montrer Status → IPSec → Established. Puis faire le ping live depuis VM3 vers 10.20.10.1. Expliquer le choix AES-256 + DH14 : bon équilibre sécurité/performance (AES-128 trop faible, DH18 trop lent pour une PME).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9 — OpenVPN. Montrer VPN → OpenVPN → Servers : serveur actif. Expliquer la limitation honnêtement : VM3 est sur le même pfSense que le serveur, donc le test complet n'est pas possible. Mais insister : serveur actif, certificats valides, profil exporté. En production ça fonctionne.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 — Suricata. Pour la démo : lancer nmap depuis VM3, puis montrer Services → Suricata → Alerts en live. Expliquer la différence IDS (détecte) vs IPS (bloque). Mentionner le warning Hardware Offloading : faux positif VMware, ne bloque pas le fonctionnement.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 — Trafic et QoS. Pour la démo ntopng : ouvrir http://10.10.10.1:3000 et lancer iperf3 entre les VMs. Pour Squid : depuis VM4 aller sur http://example.com → montrer la page bloquée. Pour le portail captif : montrer la redirection. Pour le traffic shaping : montrer la config dans Firewall → Traffic Shaper.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 — Plan de tests. Montrer ce tableau rapidement. Insister sur les 11 tests réussis sur 12. Pour l'OpenVPN client : expliquer clairement la contrainte et montrer que le serveur est opérationnel.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13 — Analyse critique. Être honnête sur les limitations : OpenVPN client non testé (contrainte 4 VM), filtrage HTTPS non activé (nécessite SSL bump). Montrer qu'on comprend les limites et qu'on a les solutions pour la 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 — Conclusion. Résumer rapidement : 11/12 tests OK, tout open source, architecture documentée et reproductible. Mentionner les perspectives : VLANs, SSL bump, HA avec CARP, SIEM. Ouvrir sur les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microsoft.com/office/2007/relationships/hdphoto" Target="../media/hdphoto1.wdp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31A45"/>
          </a:solidFill>
          <a:ln w="12700">
            <a:solidFill>
              <a:srgbClr val="131A45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Réseau &amp;</a:t>
            </a:r>
            <a:endParaRPr lang="en-US" sz="2000" dirty="0"/>
          </a:p>
          <a:p>
            <a:pPr marL="0" indent="0">
              <a:buNone/>
            </a:pPr>
            <a:r>
              <a:rPr lang="en-US" sz="2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Cybersécurité Open Source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063240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300" i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OSSI : Mise en place d'une solution de sécurité </a:t>
            </a:r>
          </a:p>
          <a:p>
            <a:pPr marL="0" indent="0">
              <a:buNone/>
            </a:pPr>
            <a:r>
              <a:rPr lang="en-US" sz="1300" i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</a:t>
            </a:r>
            <a:r>
              <a:rPr lang="en-US" sz="1300" dirty="0"/>
              <a:t> </a:t>
            </a:r>
            <a:r>
              <a:rPr lang="en-US" sz="1300" i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une PME à base de produits open source</a:t>
            </a:r>
          </a:p>
        </p:txBody>
      </p:sp>
      <p:sp>
        <p:nvSpPr>
          <p:cNvPr id="8" name="Text 6"/>
          <p:cNvSpPr/>
          <p:nvPr/>
        </p:nvSpPr>
        <p:spPr>
          <a:xfrm>
            <a:off x="6126480" y="45720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Équipe projet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126480" y="960120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Adrien RIVET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126480" y="1344168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 NGUYEN--MENU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126480" y="1728216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Safiane RAS EL QDIM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26480" y="2112264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 POIRAT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126480" y="2496312"/>
            <a:ext cx="2834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Gabriel PRIEUR</a:t>
            </a:r>
            <a:endParaRPr lang="en-US" sz="1200" dirty="0"/>
          </a:p>
        </p:txBody>
      </p:sp>
      <p:pic>
        <p:nvPicPr>
          <p:cNvPr id="15" name="Image 14" descr="Témoignage client : EFREI | monday.com">
            <a:extLst>
              <a:ext uri="{FF2B5EF4-FFF2-40B4-BE49-F238E27FC236}">
                <a16:creationId xmlns:a16="http://schemas.microsoft.com/office/drawing/2014/main" id="{8188A16A-5A63-9053-2925-5800BBBC7B6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533"/>
          <a:stretch>
            <a:fillRect/>
          </a:stretch>
        </p:blipFill>
        <p:spPr>
          <a:xfrm>
            <a:off x="214117" y="228399"/>
            <a:ext cx="1403667" cy="400251"/>
          </a:xfrm>
          <a:prstGeom prst="rect">
            <a:avLst/>
          </a:prstGeom>
        </p:spPr>
      </p:pic>
      <p:pic>
        <p:nvPicPr>
          <p:cNvPr id="19" name="Image 18">
            <a:extLst>
              <a:ext uri="{FF2B5EF4-FFF2-40B4-BE49-F238E27FC236}">
                <a16:creationId xmlns:a16="http://schemas.microsoft.com/office/drawing/2014/main" id="{6E2AA0CC-A8B1-240D-C8A0-0833C08DF34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0341"/>
          <a:stretch>
            <a:fillRect/>
          </a:stretch>
        </p:blipFill>
        <p:spPr>
          <a:xfrm>
            <a:off x="4015653" y="2410043"/>
            <a:ext cx="3936855" cy="2578286"/>
          </a:xfrm>
          <a:prstGeom prst="rect">
            <a:avLst/>
          </a:prstGeom>
        </p:spPr>
      </p:pic>
      <p:pic>
        <p:nvPicPr>
          <p:cNvPr id="4" name="Image 3">
            <a:extLst>
              <a:ext uri="{FF2B5EF4-FFF2-40B4-BE49-F238E27FC236}">
                <a16:creationId xmlns:a16="http://schemas.microsoft.com/office/drawing/2014/main" id="{FCEE8D09-95EB-AA76-D3C2-72BAA2FD693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77276"/>
          <a:stretch>
            <a:fillRect/>
          </a:stretch>
        </p:blipFill>
        <p:spPr>
          <a:xfrm>
            <a:off x="274320" y="1020176"/>
            <a:ext cx="5062451" cy="94578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Sommaire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94360" y="10515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C3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234440" y="1051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&amp; Problématique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55448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594360" y="16002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C3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234440" y="16002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Choix techniques &amp; Éco-conception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98080" y="16002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103120"/>
            <a:ext cx="4376057" cy="4572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94360" y="21488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C3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234440" y="2148840"/>
            <a:ext cx="35636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— Pare-feu &amp; Règles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498080" y="214884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2651760"/>
            <a:ext cx="4376057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594360" y="269748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C3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234440" y="2697480"/>
            <a:ext cx="3869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— VPN site-à-site &amp; Accès distant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498080" y="26974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200400"/>
            <a:ext cx="4376057" cy="4572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94360" y="3246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C3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234440" y="3246120"/>
            <a:ext cx="35134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 — IDS/IPS &amp; Analyse du trafic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498080" y="32461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57200" y="374904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6350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594360" y="379476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C3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234440" y="37947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test &amp; </a:t>
            </a:r>
            <a:r>
              <a:rPr lang="en-US" sz="14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498080" y="37947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4297680"/>
            <a:ext cx="8229600" cy="457200"/>
          </a:xfrm>
          <a:prstGeom prst="roundRect">
            <a:avLst>
              <a:gd name="adj" fmla="val 10000"/>
            </a:avLst>
          </a:prstGeom>
          <a:solidFill>
            <a:srgbClr val="EEF2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594360" y="434340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FC3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234440" y="434340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critique &amp; Perspectives</a:t>
            </a:r>
            <a:endParaRPr lang="en-US" sz="1400" dirty="0"/>
          </a:p>
        </p:txBody>
      </p:sp>
      <p:pic>
        <p:nvPicPr>
          <p:cNvPr id="30" name="Image 29">
            <a:extLst>
              <a:ext uri="{FF2B5EF4-FFF2-40B4-BE49-F238E27FC236}">
                <a16:creationId xmlns:a16="http://schemas.microsoft.com/office/drawing/2014/main" id="{E7982388-C0BE-7E52-FE7C-EE36E1460A6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 contrast="100000"/>
                    </a14:imgEffect>
                  </a14:imgLayer>
                </a14:imgProps>
              </a:ext>
            </a:extLst>
          </a:blip>
          <a:srcRect t="76759"/>
          <a:stretch>
            <a:fillRect/>
          </a:stretch>
        </p:blipFill>
        <p:spPr>
          <a:xfrm>
            <a:off x="7340011" y="182880"/>
            <a:ext cx="1605869" cy="306835"/>
          </a:xfrm>
          <a:prstGeom prst="rect">
            <a:avLst/>
          </a:prstGeom>
        </p:spPr>
      </p:pic>
      <p:sp>
        <p:nvSpPr>
          <p:cNvPr id="33" name="Parenthèse fermante 32">
            <a:extLst>
              <a:ext uri="{FF2B5EF4-FFF2-40B4-BE49-F238E27FC236}">
                <a16:creationId xmlns:a16="http://schemas.microsoft.com/office/drawing/2014/main" id="{1B2F34AC-62B1-B9B0-1F5D-03C2D8F67594}"/>
              </a:ext>
            </a:extLst>
          </p:cNvPr>
          <p:cNvSpPr/>
          <p:nvPr/>
        </p:nvSpPr>
        <p:spPr>
          <a:xfrm>
            <a:off x="4882745" y="2099603"/>
            <a:ext cx="221063" cy="1557997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Shape 1">
            <a:extLst>
              <a:ext uri="{FF2B5EF4-FFF2-40B4-BE49-F238E27FC236}">
                <a16:creationId xmlns:a16="http://schemas.microsoft.com/office/drawing/2014/main" id="{0C7EE553-AC1E-B11F-AD93-AA026B39ED3A}"/>
              </a:ext>
            </a:extLst>
          </p:cNvPr>
          <p:cNvSpPr/>
          <p:nvPr/>
        </p:nvSpPr>
        <p:spPr>
          <a:xfrm>
            <a:off x="5225141" y="2103120"/>
            <a:ext cx="3461659" cy="1554480"/>
          </a:xfrm>
          <a:prstGeom prst="roundRect">
            <a:avLst>
              <a:gd name="adj" fmla="val 4505"/>
            </a:avLst>
          </a:prstGeom>
          <a:solidFill>
            <a:srgbClr val="EEF2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Text 11">
            <a:extLst>
              <a:ext uri="{FF2B5EF4-FFF2-40B4-BE49-F238E27FC236}">
                <a16:creationId xmlns:a16="http://schemas.microsoft.com/office/drawing/2014/main" id="{D3238993-5894-5E10-DA4F-BBBDBC69AB28}"/>
              </a:ext>
            </a:extLst>
          </p:cNvPr>
          <p:cNvSpPr/>
          <p:nvPr/>
        </p:nvSpPr>
        <p:spPr>
          <a:xfrm>
            <a:off x="5399842" y="2606040"/>
            <a:ext cx="38803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Explications </a:t>
            </a:r>
            <a:r>
              <a:rPr lang="en-US" sz="16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théoriques</a:t>
            </a:r>
            <a:endParaRPr lang="en-US" sz="1600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</a:t>
            </a:r>
          </a:p>
          <a:p>
            <a:pPr marL="0" indent="0">
              <a:buNone/>
            </a:pPr>
            <a:r>
              <a:rPr lang="en-US" sz="16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Démonstrations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pratiques </a:t>
            </a:r>
          </a:p>
          <a:p>
            <a:pPr marL="0" indent="0">
              <a:buNone/>
            </a:pPr>
            <a:endParaRPr lang="en-US" sz="1600" dirty="0">
              <a:solidFill>
                <a:srgbClr val="1E276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</a:t>
            </a:r>
            <a:r>
              <a:rPr lang="en-US" sz="16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parallèle</a:t>
            </a: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 — Contexte &amp; Problématique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4114800" cy="1920240"/>
          </a:xfrm>
          <a:prstGeom prst="roundRect">
            <a:avLst>
              <a:gd name="adj" fmla="val 4762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48640" y="1005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ARCOS Solutions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 de PME de services numériques — 50 salariés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7830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Principal — Paris (IP WAN fixe)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Isolé — Lyon (IP WAN dynamique)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54880" y="914400"/>
            <a:ext cx="4114800" cy="1920240"/>
          </a:xfrm>
          <a:prstGeom prst="roundRect">
            <a:avLst>
              <a:gd name="adj" fmla="val 4762"/>
            </a:avLst>
          </a:prstGeom>
          <a:solidFill>
            <a:srgbClr val="EEF2FF"/>
          </a:solidFill>
          <a:ln w="6350">
            <a:solidFill>
              <a:srgbClr val="D1D5DB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4892040" y="10058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Problématique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892040" y="14173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Sécuriser les communications inter-sites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92040" y="174650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Contrôler les accès distants (télétravail)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207568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Détecter et bloquer les intrusions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92040" y="240487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 la navigation des utilisateurs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971800"/>
            <a:ext cx="8412480" cy="960120"/>
          </a:xfrm>
          <a:prstGeom prst="roundRect">
            <a:avLst>
              <a:gd name="adj" fmla="val 9524"/>
            </a:avLst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fr-FR" dirty="0"/>
          </a:p>
        </p:txBody>
      </p:sp>
      <p:sp>
        <p:nvSpPr>
          <p:cNvPr id="15" name="Text 13"/>
          <p:cNvSpPr/>
          <p:nvPr/>
        </p:nvSpPr>
        <p:spPr>
          <a:xfrm>
            <a:off x="594360" y="306324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</a:t>
            </a:r>
            <a:r>
              <a:rPr lang="en-US" sz="1300" b="1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principale : solution 100% Open Source — coût réduit, adapté PME, sans licence propriétaire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069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Actifs critiques identifiés 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36168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Serveurs pfSense · Communications inter-sites · Postes utilisateurs · Accès distant · Trafic réseau</a:t>
            </a:r>
            <a:endParaRPr lang="en-US" sz="1100" dirty="0"/>
          </a:p>
        </p:txBody>
      </p:sp>
      <p:pic>
        <p:nvPicPr>
          <p:cNvPr id="18" name="Image 17">
            <a:extLst>
              <a:ext uri="{FF2B5EF4-FFF2-40B4-BE49-F238E27FC236}">
                <a16:creationId xmlns:a16="http://schemas.microsoft.com/office/drawing/2014/main" id="{DD7A4198-E88D-B8DF-7D9D-CDFB8B140CD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 contrast="100000"/>
                    </a14:imgEffect>
                  </a14:imgLayer>
                </a14:imgProps>
              </a:ext>
            </a:extLst>
          </a:blip>
          <a:srcRect t="76759"/>
          <a:stretch>
            <a:fillRect/>
          </a:stretch>
        </p:blipFill>
        <p:spPr>
          <a:xfrm>
            <a:off x="7340011" y="182880"/>
            <a:ext cx="1605869" cy="3068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Architecture — 4 VM VMware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237744" y="77724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1A237E">
              <a:alpha val="80000"/>
            </a:srgbClr>
          </a:solidFill>
          <a:ln w="190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11480" y="868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PRINCIPAL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94360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VM1 — pfSense Principal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691640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Pare-feu · IPSec · OpenVPN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 · Suricata · ntopng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283593"/>
          </a:solidFill>
          <a:ln w="6350">
            <a:solidFill>
              <a:srgbClr val="9FA8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9436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VM3 — Poste Admin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926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10.10.10.100 (DHCP)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37947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LAN: 10.10.10.0/24 | WAN: 203.0.113.1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51960" y="1371600"/>
            <a:ext cx="822960" cy="2286000"/>
          </a:xfrm>
          <a:prstGeom prst="roundRect">
            <a:avLst>
              <a:gd name="adj" fmla="val 11111"/>
            </a:avLst>
          </a:prstGeom>
          <a:solidFill>
            <a:srgbClr val="37474F"/>
          </a:solidFill>
          <a:ln w="6350">
            <a:solidFill>
              <a:srgbClr val="90A4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4270248" y="1463040"/>
            <a:ext cx="78638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203.0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.113</a:t>
            </a:r>
            <a:endParaRPr lang="en-US" sz="800" dirty="0"/>
          </a:p>
          <a:p>
            <a:pPr marL="0" indent="0" algn="ctr">
              <a:buNone/>
            </a:pPr>
            <a:r>
              <a:rPr lang="en-US" sz="8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.0/24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931920" y="1737360"/>
            <a:ext cx="320040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5074920" y="1737360"/>
            <a:ext cx="320040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160520" y="19659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</a:t>
            </a:r>
            <a:endParaRPr lang="en-US" sz="800" dirty="0"/>
          </a:p>
          <a:p>
            <a:pPr marL="0" indent="0" algn="ctr">
              <a:buNone/>
            </a:pPr>
            <a:r>
              <a:rPr lang="en-US" sz="8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212080" y="77724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1B5E20">
              <a:alpha val="80000"/>
            </a:srgbClr>
          </a:solidFill>
          <a:ln w="1905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166360" y="8686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81C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ISOLÉ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13248" y="1280160"/>
            <a:ext cx="3474720" cy="1097280"/>
          </a:xfrm>
          <a:prstGeom prst="roundRect">
            <a:avLst>
              <a:gd name="adj" fmla="val 8333"/>
            </a:avLst>
          </a:prstGeom>
          <a:solidFill>
            <a:srgbClr val="1B5E20"/>
          </a:solidFill>
          <a:ln w="12700">
            <a:solidFill>
              <a:srgbClr val="4CAF5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518404" y="13716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VM2 — pfSense Isolé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500116" y="1673176"/>
            <a:ext cx="3200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Pare-feu · Squid · SquidGuard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Portail Captif · DHCP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13248" y="2514600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2E7D32"/>
          </a:solidFill>
          <a:ln w="6350">
            <a:solidFill>
              <a:srgbClr val="81C78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1"/>
          <p:cNvSpPr/>
          <p:nvPr/>
        </p:nvSpPr>
        <p:spPr>
          <a:xfrm>
            <a:off x="5518404" y="2599885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VM4 — Postes Internet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500116" y="2919925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10.20.10.100 (DHCP)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212080" y="37947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LAN: 10.20.10.0/24 | WAN: 203.0.113.2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28600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VPN OpenVPN : 10.30.0.0/24</a:t>
            </a:r>
            <a:endParaRPr lang="en-US" sz="10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27AD327D-EAA2-9760-B19C-127C2E7CC08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"/>
                    </a14:imgEffect>
                  </a14:imgLayer>
                </a14:imgProps>
              </a:ext>
            </a:extLst>
          </a:blip>
          <a:srcRect t="76759"/>
          <a:stretch>
            <a:fillRect/>
          </a:stretch>
        </p:blipFill>
        <p:spPr>
          <a:xfrm>
            <a:off x="7340011" y="182880"/>
            <a:ext cx="1605869" cy="3068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— Choix Techniques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68680"/>
            <a:ext cx="3977640" cy="1097280"/>
          </a:xfrm>
          <a:prstGeom prst="roundRect">
            <a:avLst>
              <a:gd name="adj" fmla="val 8333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02920" y="9601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pfSense</a:t>
            </a: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02920" y="13075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Pare-feu &amp; Routeur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02920" y="156362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source, tout-en-un, intègre tous les services, déjà </a:t>
            </a:r>
            <a:r>
              <a:rPr lang="en-US" sz="1000" dirty="0" err="1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maitrisé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800600" y="868680"/>
            <a:ext cx="3977640" cy="1097280"/>
          </a:xfrm>
          <a:prstGeom prst="roundRect">
            <a:avLst>
              <a:gd name="adj" fmla="val 8333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937760" y="96012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IPSec IKEv2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937760" y="130759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site-à-site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937760" y="156362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industrie, AES-256, DH Group 14 (2048 bits)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148840"/>
            <a:ext cx="3977640" cy="1097280"/>
          </a:xfrm>
          <a:prstGeom prst="roundRect">
            <a:avLst>
              <a:gd name="adj" fmla="val 8333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02920" y="22402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OpenVPN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25877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distant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284378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 la PKI X.509 — plus sécurisé que WireGuard seul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800600" y="2148840"/>
            <a:ext cx="3977640" cy="1097280"/>
          </a:xfrm>
          <a:prstGeom prst="roundRect">
            <a:avLst>
              <a:gd name="adj" fmla="val 8333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937760" y="22402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PKI interne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937760" y="258775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Gestion certificats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937760" y="284378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ARCOS-CA, RSA 2048, SHA-256 — authentification forte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429000"/>
            <a:ext cx="3977640" cy="1097280"/>
          </a:xfrm>
          <a:prstGeom prst="roundRect">
            <a:avLst>
              <a:gd name="adj" fmla="val 8333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02920" y="3520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Suricata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3867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IDS/IPS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02920" y="412394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Multi-thread, ETOpen, plus moderne que Snort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00600" y="3429000"/>
            <a:ext cx="3977640" cy="1097280"/>
          </a:xfrm>
          <a:prstGeom prst="roundRect">
            <a:avLst>
              <a:gd name="adj" fmla="val 8333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4937760" y="35204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ntopng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937760" y="3867912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trafic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937760" y="4123944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 temps réel, DPI, supervision réseau</a:t>
            </a:r>
            <a:endParaRPr lang="en-US" sz="1000" dirty="0"/>
          </a:p>
        </p:txBody>
      </p:sp>
      <p:pic>
        <p:nvPicPr>
          <p:cNvPr id="27" name="Image 26">
            <a:extLst>
              <a:ext uri="{FF2B5EF4-FFF2-40B4-BE49-F238E27FC236}">
                <a16:creationId xmlns:a16="http://schemas.microsoft.com/office/drawing/2014/main" id="{04E00B21-4A1F-526F-6B33-09A478847AB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 contrast="100000"/>
                    </a14:imgEffect>
                  </a14:imgLayer>
                </a14:imgProps>
              </a:ext>
            </a:extLst>
          </a:blip>
          <a:srcRect t="76759"/>
          <a:stretch>
            <a:fillRect/>
          </a:stretch>
        </p:blipFill>
        <p:spPr>
          <a:xfrm>
            <a:off x="7340011" y="182880"/>
            <a:ext cx="1605869" cy="30683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 — Mécanismes de Sécurité &amp; Éco-conception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4114800" cy="3105945"/>
          </a:xfrm>
          <a:prstGeom prst="roundRect">
            <a:avLst>
              <a:gd name="adj" fmla="val 2564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Mécanismes</a:t>
            </a: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Sécurité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28930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 :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965960" y="1289304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Locale (pfSense) + certificats X.509 (PKI)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17145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Chiffrement 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65960" y="1694403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AES-256 · OpenVPN AES-256-CBC · TLS 1.3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1259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 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65960" y="2105883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interne ARCOS-CA · Certificats serveur + clients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546604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65960" y="2548513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over TLS — Cloudflare 1.1.1.1 + Quad9 9.9.9.9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967228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Pare-feu 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65960" y="2965896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 by default · Règles par interface · NAT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389359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IDS/IPS 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65960" y="339589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ETOpen · 30 000+ signatures · Mode IPS inline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822960"/>
            <a:ext cx="4114800" cy="3105945"/>
          </a:xfrm>
          <a:prstGeom prst="roundRect">
            <a:avLst>
              <a:gd name="adj" fmla="val 2564"/>
            </a:avLst>
          </a:prstGeom>
          <a:solidFill>
            <a:srgbClr val="F0FDF4"/>
          </a:solidFill>
          <a:ln w="6350">
            <a:solidFill>
              <a:srgbClr val="86EFAC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4800600" y="914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Éco</a:t>
            </a:r>
            <a:r>
              <a:rPr lang="en-US" sz="1400" b="1" dirty="0">
                <a:solidFill>
                  <a:srgbClr val="1665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-conception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00600" y="130251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100% Open Source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75120" y="1308505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licence, zéro coût logiciel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00600" y="173635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Virtualisation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75120" y="1688877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Réutilisation du matériel existant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00600" y="21701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pfSense léger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75120" y="212598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Go RAM · 20 Go disque — empreinte minimale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600" y="2600411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Mutualisation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75120" y="261061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VM = pare-feu + VPN + DNS + NTP + IDS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00600" y="303123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Matériel recyclé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675120" y="3035456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Fonctionne sur ancien matériel en production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00600" y="346809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665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Sans achat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3470652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zéro investissement matériel</a:t>
            </a:r>
            <a:endParaRPr lang="en-US" sz="1000" dirty="0"/>
          </a:p>
        </p:txBody>
      </p:sp>
      <p:pic>
        <p:nvPicPr>
          <p:cNvPr id="31" name="Image 30">
            <a:extLst>
              <a:ext uri="{FF2B5EF4-FFF2-40B4-BE49-F238E27FC236}">
                <a16:creationId xmlns:a16="http://schemas.microsoft.com/office/drawing/2014/main" id="{1663C30D-7719-1A0A-D5EB-341499BC5CD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 contrast="100000"/>
                    </a14:imgEffect>
                  </a14:imgLayer>
                </a14:imgProps>
              </a:ext>
            </a:extLst>
          </a:blip>
          <a:srcRect t="76759"/>
          <a:stretch>
            <a:fillRect/>
          </a:stretch>
        </p:blipFill>
        <p:spPr>
          <a:xfrm>
            <a:off x="7340011" y="182880"/>
            <a:ext cx="1605869" cy="306835"/>
          </a:xfrm>
          <a:prstGeom prst="rect">
            <a:avLst/>
          </a:prstGeom>
        </p:spPr>
      </p:pic>
      <p:sp>
        <p:nvSpPr>
          <p:cNvPr id="32" name="Shape 1">
            <a:extLst>
              <a:ext uri="{FF2B5EF4-FFF2-40B4-BE49-F238E27FC236}">
                <a16:creationId xmlns:a16="http://schemas.microsoft.com/office/drawing/2014/main" id="{DF6C784C-A692-9FB9-7060-21F8F2EC0531}"/>
              </a:ext>
            </a:extLst>
          </p:cNvPr>
          <p:cNvSpPr/>
          <p:nvPr/>
        </p:nvSpPr>
        <p:spPr>
          <a:xfrm>
            <a:off x="365759" y="4066065"/>
            <a:ext cx="8412481" cy="812410"/>
          </a:xfrm>
          <a:prstGeom prst="roundRect">
            <a:avLst>
              <a:gd name="adj" fmla="val 12838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 dirty="0"/>
          </a:p>
        </p:txBody>
      </p:sp>
      <p:sp>
        <p:nvSpPr>
          <p:cNvPr id="33" name="Text 2">
            <a:extLst>
              <a:ext uri="{FF2B5EF4-FFF2-40B4-BE49-F238E27FC236}">
                <a16:creationId xmlns:a16="http://schemas.microsoft.com/office/drawing/2014/main" id="{32052E2C-C02B-6019-1EE5-E0A202A63865}"/>
              </a:ext>
            </a:extLst>
          </p:cNvPr>
          <p:cNvSpPr/>
          <p:nvPr/>
        </p:nvSpPr>
        <p:spPr>
          <a:xfrm>
            <a:off x="457200" y="41376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Installation &amp; mise </a:t>
            </a:r>
            <a:r>
              <a:rPr lang="en-US" sz="14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</a:t>
            </a: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place</a:t>
            </a:r>
            <a:endParaRPr lang="en-US" sz="1400" dirty="0"/>
          </a:p>
        </p:txBody>
      </p:sp>
      <p:sp>
        <p:nvSpPr>
          <p:cNvPr id="34" name="Text 4">
            <a:extLst>
              <a:ext uri="{FF2B5EF4-FFF2-40B4-BE49-F238E27FC236}">
                <a16:creationId xmlns:a16="http://schemas.microsoft.com/office/drawing/2014/main" id="{C1AB240C-8EC6-C442-17C6-A03A8A62C8E3}"/>
              </a:ext>
            </a:extLst>
          </p:cNvPr>
          <p:cNvSpPr/>
          <p:nvPr/>
        </p:nvSpPr>
        <p:spPr>
          <a:xfrm>
            <a:off x="457200" y="4369275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possibilités</a:t>
            </a:r>
            <a:endParaRPr lang="en-US" sz="1000" dirty="0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36548B24-C8A0-A08F-600B-5A468286E6D1}"/>
              </a:ext>
            </a:extLst>
          </p:cNvPr>
          <p:cNvSpPr/>
          <p:nvPr/>
        </p:nvSpPr>
        <p:spPr>
          <a:xfrm>
            <a:off x="3977640" y="4114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 Installation </a:t>
            </a:r>
            <a:r>
              <a:rPr lang="en-US" sz="10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manuelle</a:t>
            </a:r>
            <a:endParaRPr lang="en-US" sz="1000" dirty="0"/>
          </a:p>
        </p:txBody>
      </p:sp>
      <p:sp>
        <p:nvSpPr>
          <p:cNvPr id="36" name="Text 3">
            <a:extLst>
              <a:ext uri="{FF2B5EF4-FFF2-40B4-BE49-F238E27FC236}">
                <a16:creationId xmlns:a16="http://schemas.microsoft.com/office/drawing/2014/main" id="{BA2C72F6-7A8A-E2B5-C954-22381572F3F9}"/>
              </a:ext>
            </a:extLst>
          </p:cNvPr>
          <p:cNvSpPr/>
          <p:nvPr/>
        </p:nvSpPr>
        <p:spPr>
          <a:xfrm>
            <a:off x="6743712" y="4114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 </a:t>
            </a:r>
            <a:r>
              <a:rPr lang="en-US" sz="10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VMK</a:t>
            </a:r>
            <a:endParaRPr lang="en-US" sz="1000" dirty="0"/>
          </a:p>
        </p:txBody>
      </p:sp>
      <p:sp>
        <p:nvSpPr>
          <p:cNvPr id="37" name="Text 4">
            <a:extLst>
              <a:ext uri="{FF2B5EF4-FFF2-40B4-BE49-F238E27FC236}">
                <a16:creationId xmlns:a16="http://schemas.microsoft.com/office/drawing/2014/main" id="{2AAFB415-764A-7F3F-2233-259BEDA91E53}"/>
              </a:ext>
            </a:extLst>
          </p:cNvPr>
          <p:cNvSpPr/>
          <p:nvPr/>
        </p:nvSpPr>
        <p:spPr>
          <a:xfrm>
            <a:off x="3977640" y="4369702"/>
            <a:ext cx="21031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d’installation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pas-à-pas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fournit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(GitHub du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et les screens</a:t>
            </a:r>
            <a:endParaRPr lang="en-US" sz="1000" dirty="0"/>
          </a:p>
        </p:txBody>
      </p:sp>
      <p:sp>
        <p:nvSpPr>
          <p:cNvPr id="38" name="Text 4">
            <a:extLst>
              <a:ext uri="{FF2B5EF4-FFF2-40B4-BE49-F238E27FC236}">
                <a16:creationId xmlns:a16="http://schemas.microsoft.com/office/drawing/2014/main" id="{95B6B450-64F2-F88B-BFCA-C2DC58EF958A}"/>
              </a:ext>
            </a:extLst>
          </p:cNvPr>
          <p:cNvSpPr/>
          <p:nvPr/>
        </p:nvSpPr>
        <p:spPr>
          <a:xfrm>
            <a:off x="6748975" y="4297680"/>
            <a:ext cx="202926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Télécharger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</a:t>
            </a:r>
            <a:r>
              <a:rPr lang="en-US" sz="1000" dirty="0" err="1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fichiers</a:t>
            </a: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config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 — DEMO Pare-feu &amp; Segmentation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points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0292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Zones de sécurité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3898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WAN (em0) — NAT VMware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48640" y="17099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LAN (em2) — Réseau interne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WANLINK (em1) — Internet simulé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23500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IPSec &amp; OpenVPN — Interfaces VPN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86868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800600" y="9601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Hardening — Deny by Default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46320" y="13898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Suppression règle 'allow all'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846320" y="170992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Ouverture DNS (53) · NTP (123)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46320" y="20299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Ouverture HTTPS (443) · HTTP (80) · ICMP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3500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Blocage de tout le reste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288036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02920" y="2971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34015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NAT sortant : LAN → WAN (em0)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37216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Postes internes sortent via pfSense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40416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Port forwarding configurable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43616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Masquage des IPs internes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2880360"/>
            <a:ext cx="4114800" cy="1828800"/>
          </a:xfrm>
          <a:prstGeom prst="roundRect">
            <a:avLst>
              <a:gd name="adj" fmla="val 5000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4800600" y="29718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Règles</a:t>
            </a: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par interface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46320" y="34015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WANLINK : ICMP autorisé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846320" y="372160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IPSec : trafic inter-sites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40416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OpenVPN : port 1194 UDP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46320" y="436168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Anti-lockout : HTTPS 443</a:t>
            </a:r>
            <a:endParaRPr lang="en-US" sz="100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E29E771A-51E0-9B48-7423-35ACCBC0530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 contrast="100000"/>
                    </a14:imgEffect>
                  </a14:imgLayer>
                </a14:imgProps>
              </a:ext>
            </a:extLst>
          </a:blip>
          <a:srcRect t="76759"/>
          <a:stretch>
            <a:fillRect/>
          </a:stretch>
        </p:blipFill>
        <p:spPr>
          <a:xfrm>
            <a:off x="7340011" y="182880"/>
            <a:ext cx="1605869" cy="306835"/>
          </a:xfrm>
          <a:prstGeom prst="rect">
            <a:avLst/>
          </a:prstGeom>
        </p:spPr>
      </p:pic>
      <p:pic>
        <p:nvPicPr>
          <p:cNvPr id="30" name="Image 29">
            <a:extLst>
              <a:ext uri="{FF2B5EF4-FFF2-40B4-BE49-F238E27FC236}">
                <a16:creationId xmlns:a16="http://schemas.microsoft.com/office/drawing/2014/main" id="{F384A988-84E2-AE40-54F0-F963D5624F8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479" t="62841" r="18301"/>
          <a:stretch>
            <a:fillRect/>
          </a:stretch>
        </p:blipFill>
        <p:spPr>
          <a:xfrm>
            <a:off x="2454777" y="1327394"/>
            <a:ext cx="1888623" cy="684286"/>
          </a:xfrm>
          <a:prstGeom prst="rect">
            <a:avLst/>
          </a:prstGeom>
          <a:ln>
            <a:solidFill>
              <a:srgbClr val="C7D2FE"/>
            </a:solidFill>
          </a:ln>
        </p:spPr>
      </p:pic>
      <p:pic>
        <p:nvPicPr>
          <p:cNvPr id="32" name="Image 31">
            <a:extLst>
              <a:ext uri="{FF2B5EF4-FFF2-40B4-BE49-F238E27FC236}">
                <a16:creationId xmlns:a16="http://schemas.microsoft.com/office/drawing/2014/main" id="{5C6BFD55-4946-E91F-8865-2D04B7C3D2C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58741" y="1546824"/>
            <a:ext cx="1528059" cy="1914181"/>
          </a:xfrm>
          <a:prstGeom prst="rect">
            <a:avLst/>
          </a:prstGeom>
          <a:ln>
            <a:solidFill>
              <a:srgbClr val="C7D2FE"/>
            </a:solidFill>
          </a:ln>
        </p:spPr>
      </p:pic>
      <p:pic>
        <p:nvPicPr>
          <p:cNvPr id="34" name="Image 33">
            <a:extLst>
              <a:ext uri="{FF2B5EF4-FFF2-40B4-BE49-F238E27FC236}">
                <a16:creationId xmlns:a16="http://schemas.microsoft.com/office/drawing/2014/main" id="{76EE1448-3E4D-2C5A-8C65-4554D0658A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8740" y="3579951"/>
            <a:ext cx="1528059" cy="504846"/>
          </a:xfrm>
          <a:prstGeom prst="rect">
            <a:avLst/>
          </a:prstGeom>
          <a:ln>
            <a:solidFill>
              <a:srgbClr val="C7D2FE"/>
            </a:solidFill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— DEMO VPN Site-à-Site (IPSec)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589520" y="1371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points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4023360" cy="265176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1 — IKEv2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137160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IKEv2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719072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240280" y="1719072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Mutual PSK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06654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Chiffrement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240280" y="2066544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14016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Hachage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240280" y="2414016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SHA-256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276148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240280" y="2761488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10896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40280" y="3108960"/>
            <a:ext cx="201168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0" y="822960"/>
            <a:ext cx="4206240" cy="2651760"/>
          </a:xfrm>
          <a:prstGeom prst="roundRect">
            <a:avLst>
              <a:gd name="adj" fmla="val 3448"/>
            </a:avLst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709160" y="9144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F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2 — ESP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754880" y="137160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446520" y="1371600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IPv4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54880" y="1719072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local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446520" y="1719072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10.10.10.0/24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54880" y="2066544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Réseau distant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446520" y="2066544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10.20.10.0/24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54880" y="2414016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446520" y="2414016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54880" y="2761488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446520" y="2761488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754880" y="3108960"/>
            <a:ext cx="16459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446520" y="3108960"/>
            <a:ext cx="21945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3639582"/>
            <a:ext cx="8412480" cy="1321037"/>
          </a:xfrm>
          <a:prstGeom prst="roundRect">
            <a:avLst>
              <a:gd name="adj" fmla="val 7692"/>
            </a:avLst>
          </a:prstGeom>
          <a:solidFill>
            <a:srgbClr val="143D15"/>
          </a:solidFill>
          <a:ln w="19050">
            <a:solidFill>
              <a:srgbClr val="4CAF5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548640" y="3703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4CA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Résultat</a:t>
            </a:r>
            <a:r>
              <a:rPr lang="en-US" sz="1400" b="1" dirty="0">
                <a:solidFill>
                  <a:srgbClr val="4CA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validé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548640" y="40279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→ IPSec : 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572000" y="370332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 VM3 (10.10.10.100) → VM2 (10.20.10.1) :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4572000" y="3931719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CA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paquets · 0% </a:t>
            </a:r>
            <a:r>
              <a:rPr lang="en-US" sz="1300" b="1" dirty="0" err="1">
                <a:solidFill>
                  <a:srgbClr val="4CA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perte</a:t>
            </a:r>
            <a:r>
              <a:rPr lang="en-US" sz="1300" b="1" dirty="0">
                <a:solidFill>
                  <a:srgbClr val="4CA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endParaRPr lang="en-US" sz="130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C4EEA595-7114-739A-B7CD-60071454892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"/>
                    </a14:imgEffect>
                  </a14:imgLayer>
                </a14:imgProps>
              </a:ext>
            </a:extLst>
          </a:blip>
          <a:srcRect t="76759"/>
          <a:stretch>
            <a:fillRect/>
          </a:stretch>
        </p:blipFill>
        <p:spPr>
          <a:xfrm>
            <a:off x="7340011" y="182880"/>
            <a:ext cx="1605869" cy="306835"/>
          </a:xfrm>
          <a:prstGeom prst="rect">
            <a:avLst/>
          </a:prstGeom>
        </p:spPr>
      </p:pic>
      <p:pic>
        <p:nvPicPr>
          <p:cNvPr id="39" name="Image 38">
            <a:extLst>
              <a:ext uri="{FF2B5EF4-FFF2-40B4-BE49-F238E27FC236}">
                <a16:creationId xmlns:a16="http://schemas.microsoft.com/office/drawing/2014/main" id="{13F4ACE2-C732-7720-814C-72463B4B2AA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872" b="47455"/>
          <a:stretch>
            <a:fillRect/>
          </a:stretch>
        </p:blipFill>
        <p:spPr>
          <a:xfrm>
            <a:off x="480060" y="2798607"/>
            <a:ext cx="3794760" cy="529265"/>
          </a:xfrm>
          <a:prstGeom prst="rect">
            <a:avLst/>
          </a:prstGeom>
          <a:ln>
            <a:solidFill>
              <a:srgbClr val="C7D2FE"/>
            </a:solidFill>
          </a:ln>
        </p:spPr>
      </p:pic>
      <p:pic>
        <p:nvPicPr>
          <p:cNvPr id="40" name="Image 39">
            <a:extLst>
              <a:ext uri="{FF2B5EF4-FFF2-40B4-BE49-F238E27FC236}">
                <a16:creationId xmlns:a16="http://schemas.microsoft.com/office/drawing/2014/main" id="{9564A95A-C332-BFFA-3918-165D57A319A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430" t="53841" b="836"/>
          <a:stretch>
            <a:fillRect/>
          </a:stretch>
        </p:blipFill>
        <p:spPr>
          <a:xfrm>
            <a:off x="4667250" y="2807208"/>
            <a:ext cx="4039762" cy="533867"/>
          </a:xfrm>
          <a:prstGeom prst="rect">
            <a:avLst/>
          </a:prstGeom>
          <a:ln>
            <a:solidFill>
              <a:srgbClr val="439ED4"/>
            </a:solidFill>
          </a:ln>
        </p:spPr>
      </p:pic>
      <p:pic>
        <p:nvPicPr>
          <p:cNvPr id="46" name="Image 45">
            <a:extLst>
              <a:ext uri="{FF2B5EF4-FFF2-40B4-BE49-F238E27FC236}">
                <a16:creationId xmlns:a16="http://schemas.microsoft.com/office/drawing/2014/main" id="{1B7221F7-C546-353B-CB00-F4555DBF691E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7139" t="30671" r="34664" b="58756"/>
          <a:stretch>
            <a:fillRect/>
          </a:stretch>
        </p:blipFill>
        <p:spPr>
          <a:xfrm>
            <a:off x="4572000" y="4226982"/>
            <a:ext cx="2677887" cy="543819"/>
          </a:xfrm>
          <a:prstGeom prst="rect">
            <a:avLst/>
          </a:prstGeom>
          <a:ln>
            <a:solidFill>
              <a:srgbClr val="46A34A"/>
            </a:solidFill>
          </a:ln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81501C03-956D-F9A2-D6CC-32B56572AE7B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82376" t="43729" r="2772" b="46776"/>
          <a:stretch>
            <a:fillRect/>
          </a:stretch>
        </p:blipFill>
        <p:spPr>
          <a:xfrm>
            <a:off x="548640" y="4300100"/>
            <a:ext cx="1069648" cy="488348"/>
          </a:xfrm>
          <a:prstGeom prst="rect">
            <a:avLst/>
          </a:prstGeom>
          <a:ln>
            <a:solidFill>
              <a:srgbClr val="46A34A"/>
            </a:solidFill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199" y="228600"/>
            <a:ext cx="75657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 — DEMO VPN Accès Distant (OpenVPN)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589520" y="18288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points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4114800" cy="2743200"/>
          </a:xfrm>
          <a:prstGeom prst="roundRect">
            <a:avLst>
              <a:gd name="adj" fmla="val 3333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02920" y="914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PKI — ARCOS-CA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37160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 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783080" y="13716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ARCOS-CA · RSA 2048 · SHA-256 · 10 ans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87452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Cert. serveur 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783080" y="187452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pfsense-principal-cert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37744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Cert. client 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83080" y="23774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client-vpn-admin (User Cert)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8803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 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783080" y="288036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Révocation possible · Authentification forte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14800" cy="2743200"/>
          </a:xfrm>
          <a:prstGeom prst="roundRect">
            <a:avLst>
              <a:gd name="adj" fmla="val 3333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800600" y="914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OpenVPN — Config serveur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846320" y="137160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: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172200" y="137160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WANLINK (203.0.113.1)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178308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172200" y="17830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1194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46320" y="219456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172200" y="219456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Access SSL/TLS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846320" y="260604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Chiffrement 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172200" y="260604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AES-256-CBC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301752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 clients 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72200" y="301752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10.30.0.0/24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46320" y="3429000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72200" y="342900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760" y="3703320"/>
            <a:ext cx="8412480" cy="1097280"/>
          </a:xfrm>
          <a:prstGeom prst="roundRect">
            <a:avLst>
              <a:gd name="adj" fmla="val 8333"/>
            </a:avLst>
          </a:prstGeom>
          <a:solidFill>
            <a:srgbClr val="FFF3CD"/>
          </a:solidFill>
          <a:ln w="12700">
            <a:solidFill>
              <a:srgbClr val="FFC10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548640" y="379476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Limitation labo (4 VM) :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Serveur actif sur 203.0.113.1:1194 · Pool 10.30.0.0/24 opérationnel · Profil .ovpn exporté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48640" y="4389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564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client complet nécessite une VM sur le segment WAN — contrainte architecturale documentée</a:t>
            </a:r>
            <a:endParaRPr lang="en-US" sz="100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43B1157-2418-0024-9C73-BFA2ED98DD09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 contrast="100000"/>
                    </a14:imgEffect>
                  </a14:imgLayer>
                </a14:imgProps>
              </a:ext>
            </a:extLst>
          </a:blip>
          <a:srcRect t="76759"/>
          <a:stretch>
            <a:fillRect/>
          </a:stretch>
        </p:blipFill>
        <p:spPr>
          <a:xfrm>
            <a:off x="7340011" y="182880"/>
            <a:ext cx="1605869" cy="3068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— DEMO IDS/IPS — Suricata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589520" y="13716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31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points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777240"/>
            <a:ext cx="5029200" cy="2926080"/>
          </a:xfrm>
          <a:prstGeom prst="roundRect">
            <a:avLst>
              <a:gd name="adj" fmla="val 3125"/>
            </a:avLst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502920" y="868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Configuration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965960" y="1325880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 (em0)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801368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: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965960" y="1801368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 Inline (interception avant traitement)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227685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: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965960" y="2276856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 Threats Open (ETOpen)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752344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Catégories :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965960" y="2752344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emerging-scan · exploit · dos · malware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48640" y="3227832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 :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965960" y="3227832"/>
            <a:ext cx="3291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30 000+ règles téléchargées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577840" y="777240"/>
            <a:ext cx="3200400" cy="2926080"/>
          </a:xfrm>
          <a:prstGeom prst="roundRect">
            <a:avLst>
              <a:gd name="adj" fmla="val 3125"/>
            </a:avLst>
          </a:prstGeom>
          <a:solidFill>
            <a:srgbClr val="143D15"/>
          </a:solidFill>
          <a:ln w="12700">
            <a:solidFill>
              <a:srgbClr val="4CAF50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5715000" y="8686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4CAF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validé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715000" y="13258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Commande :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715000" y="1600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nmap -sS -A -Pn</a:t>
            </a:r>
            <a:endParaRPr lang="en-US" sz="1100" dirty="0"/>
          </a:p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10.10.10.1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715000" y="224028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 générées 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715000" y="2542032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ICMPv4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code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Protocol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Decode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82219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1A2A4A"/>
          </a:solidFill>
          <a:ln w="6350">
            <a:solidFill>
              <a:srgbClr val="CADCF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548640" y="3913632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IPS Inline : Suricata intercepte les paquets AVANT traitement réseau — les paquets DROP sont jetés sans atteindre le réseau. Différence avec IDS : en IDS, les paquets passent et on alerte seulement.</a:t>
            </a:r>
            <a:endParaRPr lang="en-US" sz="1000" dirty="0"/>
          </a:p>
        </p:txBody>
      </p:sp>
      <p:pic>
        <p:nvPicPr>
          <p:cNvPr id="3" name="Image 2">
            <a:extLst>
              <a:ext uri="{FF2B5EF4-FFF2-40B4-BE49-F238E27FC236}">
                <a16:creationId xmlns:a16="http://schemas.microsoft.com/office/drawing/2014/main" id="{90BBAD30-0CF2-F905-6B17-D4D278089EC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"/>
                    </a14:imgEffect>
                  </a14:imgLayer>
                </a14:imgProps>
              </a:ext>
            </a:extLst>
          </a:blip>
          <a:srcRect t="76759"/>
          <a:stretch>
            <a:fillRect/>
          </a:stretch>
        </p:blipFill>
        <p:spPr>
          <a:xfrm>
            <a:off x="7340011" y="182880"/>
            <a:ext cx="1605869" cy="3068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 — DEMO </a:t>
            </a:r>
            <a:r>
              <a:rPr lang="en-US" sz="26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</a:t>
            </a: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du Trafic &amp; Traffic Shaping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365760" y="777240"/>
            <a:ext cx="4114800" cy="2834640"/>
          </a:xfrm>
          <a:prstGeom prst="roundRect">
            <a:avLst>
              <a:gd name="adj" fmla="val 3226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 err="1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ntopng</a:t>
            </a: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Supervision temps réel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325880"/>
            <a:ext cx="38404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http://10.10.10.1:3000
</a:t>
            </a: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 mesuré 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Kbps ↑ / 21 Kbps ↓
</a:t>
            </a: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actifs 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flows · DPI activé
</a:t>
            </a: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iPerf3 : </a:t>
            </a: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VM3 → VM4 via tunnel IPSec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3840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Trafic iPerf3 visible dans ntopng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Flux IPSec identifiés et classifiés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DPI : protocoles détectés en temps réel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63440" y="777240"/>
            <a:ext cx="4114800" cy="2834640"/>
          </a:xfrm>
          <a:prstGeom prst="roundRect">
            <a:avLst>
              <a:gd name="adj" fmla="val 3226"/>
            </a:avLst>
          </a:prstGeom>
          <a:solidFill>
            <a:srgbClr val="FFF8E1"/>
          </a:solidFill>
          <a:ln w="6350">
            <a:solidFill>
              <a:srgbClr val="FFD54F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800600" y="8686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92400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Traffic Shaping (QoS)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846320" y="1325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835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Firewall → Traffic Shaper → By Interface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46320" y="17373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806440" y="17373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589520" y="1737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Usage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846320" y="2057400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qVoIP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806440" y="2057400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Haute priorité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315200" y="2057400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VoIP / Teams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846320" y="2404872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qMetier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06440" y="2404872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 normale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0" y="2404872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Apps métier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846320" y="2752344"/>
            <a:ext cx="914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qDefault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06440" y="2752344"/>
            <a:ext cx="10058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Basse priorité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0" y="2752344"/>
            <a:ext cx="13716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web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310896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Bénéfice : le trafic VoIP/métier est garanti même</a:t>
            </a:r>
            <a:endParaRPr lang="en-US" sz="1000" dirty="0"/>
          </a:p>
          <a:p>
            <a:pPr marL="0" indent="0">
              <a:buNone/>
            </a:pPr>
            <a:r>
              <a:rPr lang="en-US" sz="1000" i="1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navigation web sature la bande passante.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3749040"/>
            <a:ext cx="8412480" cy="1051560"/>
          </a:xfrm>
          <a:prstGeom prst="roundRect">
            <a:avLst>
              <a:gd name="adj" fmla="val 8696"/>
            </a:avLst>
          </a:prstGeom>
          <a:solidFill>
            <a:srgbClr val="EEF2FF"/>
          </a:solidFill>
          <a:ln w="6350">
            <a:solidFill>
              <a:srgbClr val="C7D2FE"/>
            </a:solidFill>
            <a:prstDash val="solid"/>
          </a:ln>
          <a:effectLst>
            <a:outerShdw blurRad="101600" dist="2540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548640" y="38404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Squid + SquidGuard :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834640" y="384048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http://example.com bloqué ✅  (filtrage HTTP transparent)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4206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 err="1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Portail</a:t>
            </a: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Captif :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834640" y="42062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Redirection login avant accès Internet ✅  (user-isole / ARCOSuser2026!)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06 - Plan de Tests — Résultats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04672"/>
            <a:ext cx="8412480" cy="310896"/>
          </a:xfrm>
          <a:prstGeom prst="rect">
            <a:avLst/>
          </a:prstGeom>
          <a:solidFill>
            <a:srgbClr val="EEF2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Connectivité inter-sites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246120" y="8229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 203.0.113.1 → 203.0.113.2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766560" y="8229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perte, 2ms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" y="1147572"/>
            <a:ext cx="84124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457200" y="11658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Tunnel IPSec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246120" y="11658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Ping VM3 → 10.20.10.1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766560" y="11658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 perte, 8ms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65760" y="1490472"/>
            <a:ext cx="8412480" cy="310896"/>
          </a:xfrm>
          <a:prstGeom prst="rect">
            <a:avLst/>
          </a:prstGeom>
          <a:solidFill>
            <a:srgbClr val="EEF2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457200" y="1508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DHCP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246120" y="15087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VM3 + VM4 branchées au LAN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766560" y="15087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 attribuées auto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833372"/>
            <a:ext cx="84124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57200" y="18516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over TLS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3246120" y="18516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Requêtes DNS via Unbound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766560" y="18516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TLS chiffré port 853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65760" y="2176272"/>
            <a:ext cx="8412480" cy="310896"/>
          </a:xfrm>
          <a:prstGeom prst="rect">
            <a:avLst/>
          </a:prstGeom>
          <a:solidFill>
            <a:srgbClr val="EEF2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457200" y="21945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Pare-feu deny by default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46120" y="21945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Trafic non autorisé bloqué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0" y="21945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</a:t>
            </a:r>
            <a:r>
              <a:rPr lang="en-US" sz="9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fonctionnelles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2519172"/>
            <a:ext cx="84124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457200" y="25374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Suricata IDS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46120" y="25374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nmap -sS -A -Pn 10.10.10.1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766560" y="25374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Alertes</a:t>
            </a:r>
            <a:r>
              <a:rPr lang="en-US" sz="9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générées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365760" y="2862072"/>
            <a:ext cx="8412480" cy="310896"/>
          </a:xfrm>
          <a:prstGeom prst="rect">
            <a:avLst/>
          </a:prstGeom>
          <a:solidFill>
            <a:srgbClr val="EEF2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457200" y="2880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ntopng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3246120" y="28803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Trafic iPerf3 VM3↔VM4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766560" y="28803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26Kbps visibles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3204972"/>
            <a:ext cx="84124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457200" y="32232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Squid filtrage HTTP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3246120" y="32232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http://example.com depuis VM4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766560" y="32232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bloquée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5760" y="3547872"/>
            <a:ext cx="8412480" cy="310896"/>
          </a:xfrm>
          <a:prstGeom prst="rect">
            <a:avLst/>
          </a:prstGeom>
          <a:solidFill>
            <a:srgbClr val="EEF2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457200" y="35661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Portail captif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246120" y="35661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Accès HTTP sans auth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766560" y="35661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Redirection login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3890772"/>
            <a:ext cx="84124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457200" y="39090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OpenVPN serveur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3246120" y="39090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sockstat + routing table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766560" y="39090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Actif</a:t>
            </a:r>
            <a:r>
              <a:rPr lang="en-US" sz="9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203.0.113.1:1194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5760" y="4233672"/>
            <a:ext cx="8412480" cy="310896"/>
          </a:xfrm>
          <a:prstGeom prst="rect">
            <a:avLst/>
          </a:prstGeom>
          <a:solidFill>
            <a:srgbClr val="EEF2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457200" y="42519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OpenVPN client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246120" y="42519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Connexion depuis VM3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766560" y="42519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Contrainte</a:t>
            </a:r>
            <a:r>
              <a:rPr lang="en-US" sz="900" b="1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4 VM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5760" y="4576572"/>
            <a:ext cx="8412480" cy="310896"/>
          </a:xfrm>
          <a:prstGeom prst="rect">
            <a:avLst/>
          </a:prstGeom>
          <a:solidFill>
            <a:srgbClr val="FFFFFF"/>
          </a:solidFill>
          <a:ln w="381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8" name="Text 46"/>
          <p:cNvSpPr/>
          <p:nvPr/>
        </p:nvSpPr>
        <p:spPr>
          <a:xfrm>
            <a:off x="457200" y="45948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iPerf3 débit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246120" y="459486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VM3 client → VM4 serveur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6766560" y="45948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 err="1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Débit</a:t>
            </a:r>
            <a:r>
              <a:rPr lang="en-US" sz="9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mesuré</a:t>
            </a:r>
            <a:endParaRPr lang="en-US" sz="900" dirty="0"/>
          </a:p>
        </p:txBody>
      </p:sp>
      <p:pic>
        <p:nvPicPr>
          <p:cNvPr id="51" name="Image 50">
            <a:extLst>
              <a:ext uri="{FF2B5EF4-FFF2-40B4-BE49-F238E27FC236}">
                <a16:creationId xmlns:a16="http://schemas.microsoft.com/office/drawing/2014/main" id="{3F61F767-8503-17D1-5973-FF6C1843A8A8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 contrast="100000"/>
                    </a14:imgEffect>
                  </a14:imgLayer>
                </a14:imgProps>
              </a:ext>
            </a:extLst>
          </a:blip>
          <a:srcRect t="76759"/>
          <a:stretch>
            <a:fillRect/>
          </a:stretch>
        </p:blipFill>
        <p:spPr>
          <a:xfrm>
            <a:off x="7340011" y="182880"/>
            <a:ext cx="1605869" cy="30683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Analyse Critique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822960"/>
            <a:ext cx="8412480" cy="411480"/>
          </a:xfrm>
          <a:prstGeom prst="roundRect">
            <a:avLst>
              <a:gd name="adj" fmla="val 11111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Have — 100% couverts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365760" y="132588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Sécurisation réseau (pare-feu, IPSec, OpenVPN)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" y="1673352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IDS/IPS Suricata opérationnel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65760" y="2020824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Interface d'admin pfSense (centralisée)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63440" y="132588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PKI + DNS over TLS + NTP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63440" y="1673352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Documentation complète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663440" y="2020824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Solution open source zéro coût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423160"/>
            <a:ext cx="8412480" cy="411480"/>
          </a:xfrm>
          <a:prstGeom prst="roundRect">
            <a:avLst>
              <a:gd name="adj" fmla="val 11111"/>
            </a:avLst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48640" y="24688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Have — Majoritairement couverts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5760" y="292608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Traffic Shaping (QoS)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5760" y="3273552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Journalisation (Suricata Alerts + System Logs)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65760" y="3621024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Auth forte : certificats X.509 (OpenVPN)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2926080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Multi-plateforme (Linux, Windows)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663440" y="3273552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Mises à jour règles auto (Suricata ETOpen)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663440" y="3621024"/>
            <a:ext cx="41148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98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Analyse risque formelle — documentée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4023360"/>
            <a:ext cx="8412480" cy="411480"/>
          </a:xfrm>
          <a:prstGeom prst="roundRect">
            <a:avLst>
              <a:gd name="adj" fmla="val 11111"/>
            </a:avLst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548640" y="40690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 Have — Partiellement couverts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553712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Tableau de bord temps réel (ntopng)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91840" y="4553712"/>
            <a:ext cx="2651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Sauvegarde config XML (export pfSense)</a:t>
            </a:r>
            <a:endParaRPr lang="en-US" sz="1000" dirty="0"/>
          </a:p>
        </p:txBody>
      </p:sp>
      <p:pic>
        <p:nvPicPr>
          <p:cNvPr id="24" name="Image 23">
            <a:extLst>
              <a:ext uri="{FF2B5EF4-FFF2-40B4-BE49-F238E27FC236}">
                <a16:creationId xmlns:a16="http://schemas.microsoft.com/office/drawing/2014/main" id="{511708DE-16DB-988B-2F22-976B985C31A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tx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0" contrast="100000"/>
                    </a14:imgEffect>
                  </a14:imgLayer>
                </a14:imgProps>
              </a:ext>
            </a:extLst>
          </a:blip>
          <a:srcRect t="76759"/>
          <a:stretch>
            <a:fillRect/>
          </a:stretch>
        </p:blipFill>
        <p:spPr>
          <a:xfrm>
            <a:off x="7340011" y="182880"/>
            <a:ext cx="1605869" cy="30683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A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0" y="0"/>
            <a:ext cx="3657600" cy="51435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open source complète déployée</a:t>
            </a:r>
            <a:endParaRPr lang="en-US" sz="1600" dirty="0"/>
          </a:p>
          <a:p>
            <a:pPr marL="0" indent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une PME fictive sur 2 sites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85166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100% open source — zéro licence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253095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Architecture reproductible (config XML)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674274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Triptyque CIA respecté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0" y="640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Confidentialité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0" y="1005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· OpenVPN · DNS TLS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554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Intégrité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669280" y="1920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PKI · Pare-feu · Suricata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Disponibilité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669280" y="2834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pfSense · DHCP · NTP · ntopng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438912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Merci de votre attention</a:t>
            </a:r>
            <a:endParaRPr lang="en-US" sz="1800" dirty="0"/>
          </a:p>
        </p:txBody>
      </p:sp>
      <p:pic>
        <p:nvPicPr>
          <p:cNvPr id="16" name="Image 15">
            <a:extLst>
              <a:ext uri="{FF2B5EF4-FFF2-40B4-BE49-F238E27FC236}">
                <a16:creationId xmlns:a16="http://schemas.microsoft.com/office/drawing/2014/main" id="{ECCD4F4A-B6EA-E21B-44FD-87E2C8985F1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1206"/>
          <a:stretch>
            <a:fillRect/>
          </a:stretch>
        </p:blipFill>
        <p:spPr>
          <a:xfrm>
            <a:off x="7492553" y="3846854"/>
            <a:ext cx="1714856" cy="1110883"/>
          </a:xfrm>
          <a:prstGeom prst="rect">
            <a:avLst/>
          </a:prstGeom>
        </p:spPr>
      </p:pic>
      <p:pic>
        <p:nvPicPr>
          <p:cNvPr id="17" name="Image 16">
            <a:extLst>
              <a:ext uri="{FF2B5EF4-FFF2-40B4-BE49-F238E27FC236}">
                <a16:creationId xmlns:a16="http://schemas.microsoft.com/office/drawing/2014/main" id="{4C1A4DA1-3AC0-4080-CED1-970D38E52AD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7601"/>
          <a:stretch>
            <a:fillRect/>
          </a:stretch>
        </p:blipFill>
        <p:spPr>
          <a:xfrm>
            <a:off x="3546222" y="3977640"/>
            <a:ext cx="2234435" cy="411480"/>
          </a:xfrm>
          <a:prstGeom prst="rect">
            <a:avLst/>
          </a:prstGeom>
        </p:spPr>
      </p:pic>
      <p:pic>
        <p:nvPicPr>
          <p:cNvPr id="18" name="Image 17" descr="Témoignage client : EFREI | monday.com">
            <a:extLst>
              <a:ext uri="{FF2B5EF4-FFF2-40B4-BE49-F238E27FC236}">
                <a16:creationId xmlns:a16="http://schemas.microsoft.com/office/drawing/2014/main" id="{7AD2061D-760E-8D5D-C058-A1628DA8F7B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69576" b="12534"/>
          <a:stretch>
            <a:fillRect/>
          </a:stretch>
        </p:blipFill>
        <p:spPr>
          <a:xfrm>
            <a:off x="7734519" y="2763915"/>
            <a:ext cx="1230923" cy="11536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</TotalTime>
  <Words>2030</Words>
  <Application>Microsoft Office PowerPoint</Application>
  <PresentationFormat>Affichage à l'écran (16:9)</PresentationFormat>
  <Paragraphs>333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Cambria</vt:lpstr>
      <vt:lpstr>Courier New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subject>PptxGenJS Presentation</dc:subject>
  <dc:creator>PptxGenJS</dc:creator>
  <cp:lastModifiedBy>Adrien RIVET</cp:lastModifiedBy>
  <cp:revision>11</cp:revision>
  <dcterms:created xsi:type="dcterms:W3CDTF">2026-07-04T20:36:22Z</dcterms:created>
  <dcterms:modified xsi:type="dcterms:W3CDTF">2026-07-05T20:36:40Z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7e7dfc5-2bf4-4a75-8664-2dc4b3bb1d09_Enabled">
    <vt:lpwstr>true</vt:lpwstr>
  </property>
  <property fmtid="{D5CDD505-2E9C-101B-9397-08002B2CF9AE}" pid="3" name="MSIP_Label_47e7dfc5-2bf4-4a75-8664-2dc4b3bb1d09_SetDate">
    <vt:lpwstr>2026-07-04T20:39:52Z</vt:lpwstr>
  </property>
  <property fmtid="{D5CDD505-2E9C-101B-9397-08002B2CF9AE}" pid="4" name="MSIP_Label_47e7dfc5-2bf4-4a75-8664-2dc4b3bb1d09_Method">
    <vt:lpwstr>Standard</vt:lpwstr>
  </property>
  <property fmtid="{D5CDD505-2E9C-101B-9397-08002B2CF9AE}" pid="5" name="MSIP_Label_47e7dfc5-2bf4-4a75-8664-2dc4b3bb1d09_Name">
    <vt:lpwstr>defa4170-0d19-0005-0004-bc88714345d2</vt:lpwstr>
  </property>
  <property fmtid="{D5CDD505-2E9C-101B-9397-08002B2CF9AE}" pid="6" name="MSIP_Label_47e7dfc5-2bf4-4a75-8664-2dc4b3bb1d09_SiteId">
    <vt:lpwstr>413600cf-bd4e-4c7c-8a61-69e73cddf731</vt:lpwstr>
  </property>
  <property fmtid="{D5CDD505-2E9C-101B-9397-08002B2CF9AE}" pid="7" name="MSIP_Label_47e7dfc5-2bf4-4a75-8664-2dc4b3bb1d09_ActionId">
    <vt:lpwstr>c25d9796-97d5-417b-99f8-6c1fdcfd6b4e</vt:lpwstr>
  </property>
  <property fmtid="{D5CDD505-2E9C-101B-9397-08002B2CF9AE}" pid="8" name="MSIP_Label_47e7dfc5-2bf4-4a75-8664-2dc4b3bb1d09_ContentBits">
    <vt:lpwstr>0</vt:lpwstr>
  </property>
  <property fmtid="{D5CDD505-2E9C-101B-9397-08002B2CF9AE}" pid="9" name="MSIP_Label_47e7dfc5-2bf4-4a75-8664-2dc4b3bb1d09_Tag">
    <vt:lpwstr>10, 3, 0, 1</vt:lpwstr>
  </property>
</Properties>
</file>