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93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Page de garde. Présenter l'équipe rapidement. Insister sur le fait que c'est une solution 100% open source pensée pour une PME.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Sommaire. 10 min présentation, 5 min démo, 5 min Q&amp;R. Mentionner la structure de l'évaluation.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Contexte. Insister sur l'aspect PME : budget limité, besoin de flexibilité. Mentionner les deux sites et leurs spécificités (IP fixe vs dynamique). Expliquer que l'open source répond exactement à ces contraintes.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Architecture. Expliquer les 3 réseaux virtuels VMware : wan-link (Internet simulé), lan-principal, lan-isole. Mentionner que chaque pfSense a 3 cartes réseau : NAT (mises à jour), wan-link (tunnel), 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Choix techniques. Point clé à expliquer : OpenVPN vs WireGuard → WireGuard ne supporte pas les certificats X.509, donc inutilisable avec notre PKI. Suricata vs Snort → Suricata est multi-thread donc plus performant. Tous les choix sont justifiés.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Mécanismes de sécurité et éco-conception. Insister sur la PKI : c'est ce qui différencie notre solution d'un VPN basique avec mot de passe. Pour l'éco-conception : pfSense peut tourner sur un Raspberry Pi ou un vieux PC — idéal pour une PME.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Pare-feu. Pour la démo : montrer Firewall → Rules sur les différentes interfaces. Montrer que la règle 'allow all' a été supprimée. Faire un ping depuis VM3 pour prouver que seul le trafic autorisé 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IPSec. Montrer Status → IPSec → Established. Puis faire le ping live depuis VM3 vers 10.20.10.1. Expliquer le choix AES-256 + DH14 : bon équilibre sécurité/performance (AES-128 trop faible, DH18 trop lent pour une PME).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OpenVPN. Montrer VPN → OpenVPN → Servers : serveur actif. Expliquer la limitation honnêtement : VM3 est sur le même pfSense que le serveur, donc le test complet n'est pas possible. Mais insister : serveur actif, certificats valides, profil exporté. En production ça fonctionne.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Suricata. Pour la démo : lancer nmap depuis VM3, puis montrer Services → Suricata → Alerts en live. Expliquer la différence IDS (détecte) vs IPS (bloque). Mentionner le warning Hardware Offloading : faux positif VMware, ne bloque pas le fonctionnement.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Trafic et QoS. Pour la démo ntopng : ouvrir http://10.10.10.1:3000 et lancer iperf3 entre les VMs. Pour Squid : depuis VM4 aller sur http://example.com → montrer la page bloquée. Pour le portail captif : montrer la redirection. Pour le traffic shaping : montrer la config dans Firewall → Traffic Shaper.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Plan de tests. Montrer ce tableau rapidement. Insister sur les 11 tests réussis sur 12. Pour l'OpenVPN client : expliquer clairement la contrainte et montrer que le serveur est opérationnel.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Analyse critique. Être honnête sur les limitations : OpenVPN client non testé (contrainte 4 VM), filtrage HTTPS non activé (nécessite SSL bump). Montrer qu'on comprend les limites et qu'on a les solutions pour la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Conclusion. Résumer rapidement : 11/12 tests OK, tout open source, architecture documentée et reproductible. Mentionner les perspectives : VLANs, SSL bump, HA avec CARP, SIEM. Ouvrir sur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ARCOS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Réseau et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 Open Source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d'une solution de sécurité réseau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PME à base de produits open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457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960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Adrien RIVET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344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NGUYEN--MENU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7282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Safiane RAS EL QDIM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POIRAT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PRIEUR</a:t>
            </a:r>
            <a:endParaRPr lang="en-US" sz="1200" dirty="0"/>
          </a:p>
        </p:txBody>
      </p:sp>
      <p:pic>
        <p:nvPicPr>
          <p:cNvPr id="15" name="Image 14" descr="Témoignage client : EFREI | monday.com">
            <a:extLst>
              <a:ext uri="{FF2B5EF4-FFF2-40B4-BE49-F238E27FC236}">
                <a16:creationId xmlns:a16="http://schemas.microsoft.com/office/drawing/2014/main" id="{8188A16A-5A63-9053-2925-5800BBBC7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533"/>
          <a:stretch>
            <a:fillRect/>
          </a:stretch>
        </p:blipFill>
        <p:spPr>
          <a:xfrm>
            <a:off x="214117" y="228399"/>
            <a:ext cx="1403667" cy="40025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6E2AA0CC-A8B1-240D-C8A0-0833C08DF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036" y="2971800"/>
            <a:ext cx="2248764" cy="1848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051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&amp; Éco-conception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48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Pare-feu &amp; Règles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697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VPN site-à-site &amp; Accès distant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IDS/IPS &amp; Analyse du trafic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94360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Shaping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9436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Contexte &amp; Problématique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ARCOS Solutions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de services numériques — 50 salariés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Site Principal — Paris (IP WAN fixe)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Site Isolé — Lyon (IP WAN dynamique)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920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les communications inter-sites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7465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accès distants (télétravail)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075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et bloquer les intrusions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404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la navigation des utilisateurs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" y="30632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</a:t>
            </a:r>
            <a:r>
              <a:rPr lang="en-US" sz="13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principale : solution 100% Open Source — coût réduit, adapté PME, sans licence propriétaire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critiques identifiés 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361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pfSense · Communications inter-sites · Postes utilisateurs · Accès distant · Trafic réseau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4 VM VMware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7744" y="77724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1A237E">
              <a:alpha val="80000"/>
            </a:srgbClr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PRINCIPAL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 — pfSense Principal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· IPSec · OpenVPN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· Suricata · ntopng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283593"/>
          </a:solidFill>
          <a:ln w="6350">
            <a:solidFill>
              <a:srgbClr val="9FA8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 — Poste Admin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10.10.10.100 (DHCP)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LAN: 10.10.10.0/24 | WAN: 203.0.113.1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1371600"/>
            <a:ext cx="822960" cy="2286000"/>
          </a:xfrm>
          <a:prstGeom prst="roundRect">
            <a:avLst>
              <a:gd name="adj" fmla="val 11111"/>
            </a:avLst>
          </a:prstGeom>
          <a:solidFill>
            <a:srgbClr val="37474F"/>
          </a:solidFill>
          <a:ln w="635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270248" y="1463040"/>
            <a:ext cx="786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203.0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.113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.0/24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31920" y="1737360"/>
            <a:ext cx="32004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074920" y="1737360"/>
            <a:ext cx="32004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60520" y="1965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12080" y="77724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1B5E20">
              <a:alpha val="80000"/>
            </a:srgbClr>
          </a:solidFill>
          <a:ln w="1905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16636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ISOLÉ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13248" y="128016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B5E20"/>
          </a:solidFill>
          <a:ln w="12700">
            <a:solidFill>
              <a:srgbClr val="4CAF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518404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VM2 — pfSense Isolé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00116" y="167317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· Squid · SquidGuard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Captif · DHCP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13248" y="251460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635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518404" y="2599885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VM4 — Postes Internet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0116" y="291992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10.20.10.100 (DHCP)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LAN: 10.20.10.0/24 | WAN: 203.0.113.2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VPN OpenVPN : 10.30.0.0/24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Choix Techniques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pfSense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&amp; Routeur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636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tout-en-un, intègre tous les services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86868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IPSec IKEv2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307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site-à-site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5636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industrie, AES-256, DH Group 14 (2048 bits)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OpenVPN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587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distant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43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 la PKI X.509 — plus sécurisé que WireGuard seul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14884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PKI interne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2587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certificats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43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ARCOS-CA, RSA 2048, SHA-256 — authentification forte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Suricata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239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Multi-thread, ETOpen, plus moderne que Snort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42900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3776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ntopng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trafic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1239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temps réel, DPI, supervision réseau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Mécanismes de Sécurité &amp; Éco-conception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Mécanismes</a:t>
            </a: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Sécurité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659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(pfSense) + certificats X.509 (PKI)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856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AES-256 · OpenVPN AES-256-CBC · TLS 1.3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23408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interne ARCOS-CA · Certificats serveur + clients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254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28254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over TLS — Cloudflare 1.1.1.1 + Quad9 9.9.9.9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33101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 · Règles par interface · NAT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ETOpen · 30 000+ signatures · Mode IPS inline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006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</a:t>
            </a: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-conception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Open Source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licence, zéro coût logiciel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856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Virtualisation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1856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 du matériel existant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3408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pfSense léger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23408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Go RAM · 20 Go disque — empreinte minimale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825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Mutualisation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28254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VM = pare-feu + VPN + DNS + NTP + IDS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310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Matériel recyclé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310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ancien matériel en production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Sans achat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zéro investissement matériel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DEMO Pare-feu &amp; Segmentation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 de sécurité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WAN (em0) — NAT VMware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LAN (em2) — Réseau interne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WANLINK (em1) — Internet simulé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50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IPSec &amp; OpenVPN — Interfaces VPN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— Deny by Default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Suppression règle 'allow all'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709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Ouverture DNS (53) · NTP (123)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Ouverture HTTPS (443) · HTTP (80) · ICMP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350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Blocage de tout le reste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 sortant : LAN → WAN (em0)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7216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Postes internes sortent via pfSense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41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 forwarding configurable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61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Masquage des IPs internes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0060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 interface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WANLINK : ICMP autorisé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7216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IPSec : trafic inter-sites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041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OpenVPN : port 1194 UDP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361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Anti-lockout : HTTPS 443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DEMO VPN Site-à-Site (IPSec)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IKEv2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3716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IKEv2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7190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PSK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6654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06654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41401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76148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Group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27614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(2048 bits)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31089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28 800 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420624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091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ESP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1371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13716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IPv4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7190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local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171907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10.10.10.0/24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06654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distant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06654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10.20.10.0/24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41401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41401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76148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1089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 Group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31089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(2048 bits)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61188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43D15"/>
          </a:solidFill>
          <a:ln w="19050">
            <a:solidFill>
              <a:srgbClr val="4CAF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</a:t>
            </a:r>
            <a:r>
              <a:rPr lang="en-US" sz="14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validé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4096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IPSec : ESTABLISHED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3703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VM3 (10.10.10.100) → VM2 (10.20.10.1) 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4041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paquets · 0% perte · RTT moy. 8ms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228600"/>
            <a:ext cx="7565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DEMO VPN Accès Distant (OpenVPN)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PKI — ARCOS-CA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ARCOS-CA · RSA 2048 · SHA-256 · 10 ans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serveur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pfsense-principal-cert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client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client-vpn-admin (User Cert)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Révocation possible · Authentification forte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OpenVPN — Config serveur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371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WANLINK (203.0.113.1)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7830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1194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2194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SSL/TLS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606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2606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0175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clients 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3017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10.30.0.0/24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429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X.509 + login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 labo (4 VM) 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actif sur 203.0.113.1:1194 · Pool 10.30.0.0/24 opérationnel · Profil .ovpn exporté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client complet nécessite une VM sur le segment WAN — contrainte architecturale documentée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DEMO IDS/IPS — Suricata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3258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(em0)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8013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Inline (interception avant traitement)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768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22768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Threats Open (ETOpen)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75234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emerging-scan · exploit · dos · malware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27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32278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30 000+ règles téléchargées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777240"/>
            <a:ext cx="3200400" cy="2926080"/>
          </a:xfrm>
          <a:prstGeom prst="roundRect">
            <a:avLst>
              <a:gd name="adj" fmla="val 3125"/>
            </a:avLst>
          </a:prstGeom>
          <a:solidFill>
            <a:srgbClr val="143D15"/>
          </a:solidFill>
          <a:ln w="12700">
            <a:solidFill>
              <a:srgbClr val="4CAF5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715000" y="868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validé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1500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-sS -A -Pn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10.10.10.1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générées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54203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ICMPv4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Protocol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Decode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82219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A2A4A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3913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IPS Inline : Suricata intercepte les paquets AVANT traitement réseau — les paquets DROP sont jetés sans atteindre le réseau. Différence avec IDS : en IDS, les paquets passent et on alerte seulement.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05/06 — DEMO </a:t>
            </a:r>
            <a:r>
              <a:rPr lang="en-US" sz="2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du Trafic &amp; Traffic Shaping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ntopng — Supervision temps réel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http://10.10.10.1:3000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 mesuré 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Kbps ↑ / 21 Kbps ↓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actifs 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flows · DPI activé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 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 → VM4 via tunnel IPSec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Trafic iPerf3 visible dans ntopng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Flux IPSec identifiés et classifiés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DPI : protocoles détectés en temps réel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FFF8E1"/>
          </a:solidFill>
          <a:ln w="6350">
            <a:solidFill>
              <a:srgbClr val="FFD54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Traffic Shaping (QoS)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 → Traffic Shaper → By Interface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06440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qVoIP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20574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priorité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0574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/ Teams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40487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qMetier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4048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normale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4048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métier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75234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qDefault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27523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 priorité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7523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web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108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: le trafic VoIP/métier est garanti même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navigation web sature la bande passante.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Squid + SquidGuard 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840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http://example.com bloqué ✅  (filtrage HTTP transparent)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Portail Captif 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206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login avant accès Internet ✅  (user-isole / ARCOSuser2026!)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Tests — Résultats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10896"/>
          </a:xfrm>
          <a:prstGeom prst="rect">
            <a:avLst/>
          </a:prstGeom>
          <a:solidFill>
            <a:srgbClr val="EEF2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inter-sites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46120" y="822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203.0.113.1 → 203.0.113.2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0" y="822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0% perte, 2ms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47572"/>
            <a:ext cx="8412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1658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IPSec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6120" y="11658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VM3 → 10.20.10.1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0" y="11658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0% perte, 8ms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90472"/>
            <a:ext cx="8412480" cy="310896"/>
          </a:xfrm>
          <a:prstGeom prst="rect">
            <a:avLst/>
          </a:prstGeom>
          <a:solidFill>
            <a:srgbClr val="EEF2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 + VM4 branchées au LAN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6656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IPs attribuées auto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833372"/>
            <a:ext cx="8412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516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over TLS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18516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DNS via Unbound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18516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TLS chiffré port 853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176272"/>
            <a:ext cx="8412480" cy="310896"/>
          </a:xfrm>
          <a:prstGeom prst="rect">
            <a:avLst/>
          </a:prstGeom>
          <a:solidFill>
            <a:srgbClr val="EEF2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deny by default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2194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non autorisé bloqué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Règles fonctionnelles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519172"/>
            <a:ext cx="8412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25374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25374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-sS -A -Pn 10.10.10.1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25374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Alertes générées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862072"/>
            <a:ext cx="8412480" cy="310896"/>
          </a:xfrm>
          <a:prstGeom prst="rect">
            <a:avLst/>
          </a:prstGeom>
          <a:solidFill>
            <a:srgbClr val="EEF2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iPerf3 VM3↔VM4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26Kbps visibles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204972"/>
            <a:ext cx="8412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32232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Squid filtrage HTTP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46120" y="32232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http://example.com depuis VM4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0" y="32232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Page bloquée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547872"/>
            <a:ext cx="8412480" cy="310896"/>
          </a:xfrm>
          <a:prstGeom prst="rect">
            <a:avLst/>
          </a:prstGeom>
          <a:solidFill>
            <a:srgbClr val="EEF2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captif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4612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HTTP sans auth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3566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Redirection login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890772"/>
            <a:ext cx="8412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57200" y="39090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 serveur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46120" y="39090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sockstat + routing table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66560" y="39090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Actif 203.0.113.1:1194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solidFill>
            <a:srgbClr val="EEF2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5720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 client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4612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depuis VM3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4251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Contrainte 4 VM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576572"/>
            <a:ext cx="8412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57200" y="45948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 débit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46120" y="45948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 client → VM4 serveur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66560" y="45948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Débit mesuré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Critique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Must Have — 100% couverts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Sécurisation réseau (pare-feu, IPSec, OpenVPN)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733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IDS/IPS Suricata opérationnel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0208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Interface d'admin pfSense (centralisée)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PKI + DNS over TLS + NTP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6733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Documentation complète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0208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 open source zéro coût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Should Have — Majoritairement couverts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Traffic Shaping (QoS)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2735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Journalisation (Suricata Alerts + System Logs)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6210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 forte : certificats X.509 (OpenVPN)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Multi-plateforme (Linux, Windows)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2735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Mises à jour règles auto (Suricata ETOpen)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36210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Analyse risque formelle — documentée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Could Have — Partiellement couverts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Tableau de bord temps réel (ntopng)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45537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Sauvegarde config XML (export pfSense)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45537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SIEM / LDAP : évolution documentée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open source complète déployée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PME fictive sur 2 sites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11 / 12 tests validés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100% open source — zéro licence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Architecture reproductible (config XML)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Triptyque CIA respecté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640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· OpenVPN · DNS TLS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Intégrité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· Pare-feu · Suricata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Disponibilité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· DHCP · NTP · ntopng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2042</Words>
  <Application>Microsoft Office PowerPoint</Application>
  <PresentationFormat>Affichage à l'écran (16:9)</PresentationFormat>
  <Paragraphs>335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>PptxGenJS Presentation</dc:subject>
  <dc:creator>PptxGenJS</dc:creator>
  <cp:lastModifiedBy>Adrien RIVET</cp:lastModifiedBy>
  <cp:revision>5</cp:revision>
  <dcterms:created xsi:type="dcterms:W3CDTF">2026-07-04T20:36:22Z</dcterms:created>
  <dcterms:modified xsi:type="dcterms:W3CDTF">2026-07-05T10:20:24Z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2026-07-04T20:39:52Z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c25d9796-97d5-417b-99f8-6c1fdcfd6b4e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